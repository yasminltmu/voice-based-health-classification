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63" r:id="rId5"/>
    <p:sldId id="266" r:id="rId6"/>
    <p:sldId id="271" r:id="rId7"/>
    <p:sldId id="272" r:id="rId8"/>
    <p:sldId id="273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62000"/>
          </a:xfrm>
        </p:spPr>
        <p:txBody>
          <a:bodyPr>
            <a:normAutofit/>
          </a:bodyPr>
          <a:lstStyle/>
          <a:p>
            <a:r>
              <a:rPr lang="en-CA" sz="1800" dirty="0" smtClean="0"/>
              <a:t>Yasmin Lawrence</a:t>
            </a:r>
            <a:endParaRPr lang="en-CA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971800"/>
            <a:ext cx="6629400" cy="1371600"/>
          </a:xfrm>
        </p:spPr>
        <p:txBody>
          <a:bodyPr/>
          <a:lstStyle/>
          <a:p>
            <a:r>
              <a:rPr lang="en-CA" sz="3200" dirty="0" smtClean="0"/>
              <a:t>Voice Based Health Classification</a:t>
            </a:r>
            <a:endParaRPr lang="en-CA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4876800" y="4699518"/>
            <a:ext cx="2209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/>
              <a:t>Yasmin Lawrence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99702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introduction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CA" dirty="0" smtClean="0"/>
              <a:t>The aim of this project was to build a classification model that could accurately </a:t>
            </a:r>
            <a:r>
              <a:rPr lang="en-CA" dirty="0" smtClean="0"/>
              <a:t>predict </a:t>
            </a:r>
            <a:r>
              <a:rPr lang="en-CA" dirty="0" smtClean="0"/>
              <a:t>a patient’s health status based on several vocal parameters</a:t>
            </a:r>
            <a:r>
              <a:rPr lang="en-CA" dirty="0" smtClean="0"/>
              <a:t>.</a:t>
            </a:r>
          </a:p>
          <a:p>
            <a:pPr marL="114300" indent="0">
              <a:buNone/>
            </a:pPr>
            <a:endParaRPr lang="en-CA" dirty="0"/>
          </a:p>
          <a:p>
            <a:pPr marL="114300" indent="0">
              <a:buNone/>
            </a:pPr>
            <a:r>
              <a:rPr lang="en-US" dirty="0"/>
              <a:t>Exploratory Data Analysis (EDA), data visualization in Power BI, and supervised machine learning models, </a:t>
            </a:r>
            <a:r>
              <a:rPr lang="en-US" dirty="0" smtClean="0"/>
              <a:t>were used in this project to identify measurable </a:t>
            </a:r>
            <a:r>
              <a:rPr lang="en-US" dirty="0"/>
              <a:t>differences between healthy and unhealthy voices.</a:t>
            </a:r>
            <a:endParaRPr lang="en-CA" dirty="0" smtClean="0"/>
          </a:p>
          <a:p>
            <a:pPr marL="114300" indent="0">
              <a:buNone/>
            </a:pPr>
            <a:endParaRPr lang="en-CA" dirty="0" smtClean="0"/>
          </a:p>
          <a:p>
            <a:pPr marL="114300" indent="0">
              <a:buNone/>
            </a:pPr>
            <a:endParaRPr lang="en-CA" dirty="0" smtClean="0"/>
          </a:p>
          <a:p>
            <a:pPr marL="114300" indent="0">
              <a:buNone/>
            </a:pPr>
            <a:endParaRPr lang="en-CA" dirty="0"/>
          </a:p>
          <a:p>
            <a:pPr marL="11430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9587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Dataset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/>
              <a:t>The dataset consists of audio derived features extracted from voice recordings of patients labeled as ‘Healthy’ or ‘Unhealthy’.</a:t>
            </a:r>
          </a:p>
          <a:p>
            <a:pPr marL="114300" indent="0">
              <a:buNone/>
            </a:pPr>
            <a:endParaRPr lang="en-CA" dirty="0"/>
          </a:p>
          <a:p>
            <a:pPr marL="114300" indent="0">
              <a:buNone/>
            </a:pPr>
            <a:r>
              <a:rPr lang="en-CA" dirty="0" smtClean="0"/>
              <a:t>Dataset parameters:</a:t>
            </a:r>
          </a:p>
          <a:p>
            <a:r>
              <a:rPr lang="en-CA" b="1" dirty="0" smtClean="0"/>
              <a:t>Audio </a:t>
            </a:r>
            <a:r>
              <a:rPr lang="en-CA" b="1" dirty="0"/>
              <a:t>features</a:t>
            </a:r>
            <a:r>
              <a:rPr lang="en-CA" dirty="0"/>
              <a:t>: </a:t>
            </a:r>
            <a:r>
              <a:rPr lang="en-CA" dirty="0" err="1"/>
              <a:t>chroma_stft</a:t>
            </a:r>
            <a:r>
              <a:rPr lang="en-CA" dirty="0"/>
              <a:t>, </a:t>
            </a:r>
            <a:r>
              <a:rPr lang="en-CA" dirty="0" err="1"/>
              <a:t>rmse</a:t>
            </a:r>
            <a:r>
              <a:rPr lang="en-CA" dirty="0"/>
              <a:t>, </a:t>
            </a:r>
            <a:r>
              <a:rPr lang="en-CA" dirty="0" err="1"/>
              <a:t>spectral_centroid</a:t>
            </a:r>
            <a:r>
              <a:rPr lang="en-CA" dirty="0"/>
              <a:t>, </a:t>
            </a:r>
            <a:r>
              <a:rPr lang="en-CA" dirty="0" err="1"/>
              <a:t>spectral_bandwidth</a:t>
            </a:r>
            <a:r>
              <a:rPr lang="en-CA" dirty="0"/>
              <a:t>, </a:t>
            </a:r>
            <a:r>
              <a:rPr lang="en-CA" dirty="0" err="1"/>
              <a:t>rolloff</a:t>
            </a:r>
            <a:r>
              <a:rPr lang="en-CA" dirty="0"/>
              <a:t>, </a:t>
            </a:r>
            <a:r>
              <a:rPr lang="en-CA" dirty="0" err="1"/>
              <a:t>zero_crossing_rate</a:t>
            </a:r>
            <a:r>
              <a:rPr lang="en-CA" dirty="0"/>
              <a:t>, mfcc1 to mfcc20</a:t>
            </a:r>
          </a:p>
          <a:p>
            <a:r>
              <a:rPr lang="en-CA" b="1" dirty="0"/>
              <a:t>Metadata</a:t>
            </a:r>
            <a:r>
              <a:rPr lang="en-CA" dirty="0"/>
              <a:t>: filename, ID, G (gender: 'm' or 'w'), A (age)</a:t>
            </a:r>
          </a:p>
          <a:p>
            <a:r>
              <a:rPr lang="en-CA" b="1" dirty="0"/>
              <a:t>Target variable</a:t>
            </a:r>
            <a:r>
              <a:rPr lang="en-CA" dirty="0"/>
              <a:t>: label ("Healthy" or "Unhealthy")</a:t>
            </a:r>
          </a:p>
          <a:p>
            <a:pPr marL="114300" indent="0">
              <a:buNone/>
            </a:pPr>
            <a:endParaRPr lang="en-CA" dirty="0" smtClean="0"/>
          </a:p>
          <a:p>
            <a:pPr marL="114300" indent="0">
              <a:buNone/>
            </a:pPr>
            <a:endParaRPr lang="en-CA" dirty="0" smtClean="0"/>
          </a:p>
          <a:p>
            <a:pPr marL="114300" indent="0">
              <a:buNone/>
            </a:pPr>
            <a:endParaRPr lang="en-CA" dirty="0"/>
          </a:p>
          <a:p>
            <a:pPr marL="11430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7853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EDA Findings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It was observed that a higher number of </a:t>
            </a:r>
            <a:r>
              <a:rPr lang="en-US" dirty="0" smtClean="0"/>
              <a:t>unhealthy patients </a:t>
            </a:r>
            <a:r>
              <a:rPr lang="en-US" dirty="0"/>
              <a:t>had a spectral centroid, </a:t>
            </a:r>
            <a:r>
              <a:rPr lang="en-US" dirty="0" err="1"/>
              <a:t>rmse</a:t>
            </a:r>
            <a:r>
              <a:rPr lang="en-US" dirty="0"/>
              <a:t> and zero crossing rate as compared to healthy patients</a:t>
            </a:r>
          </a:p>
          <a:p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was a higher distribution of unhealthy to healthy patients in this dataset and among the unhealthy </a:t>
            </a:r>
            <a:r>
              <a:rPr lang="en-US" dirty="0" smtClean="0"/>
              <a:t>patients. There </a:t>
            </a:r>
            <a:r>
              <a:rPr lang="en-US" dirty="0"/>
              <a:t>were more women than men, however the percentage of unhealthy men were higher than the percentage of unhealthy women within their respective population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Unhealthy </a:t>
            </a:r>
            <a:r>
              <a:rPr lang="en-US" dirty="0"/>
              <a:t>patients tended to have a lower mean </a:t>
            </a:r>
            <a:r>
              <a:rPr lang="en-US" dirty="0" err="1"/>
              <a:t>rmse</a:t>
            </a:r>
            <a:r>
              <a:rPr lang="en-US" dirty="0"/>
              <a:t>, zero crossing rate than healthy patients, while there was also a higher mean </a:t>
            </a:r>
            <a:r>
              <a:rPr lang="en-US" dirty="0" err="1"/>
              <a:t>mfcc</a:t>
            </a:r>
            <a:r>
              <a:rPr lang="en-US" dirty="0"/>
              <a:t> and age for unhealthy patients as compared to healthy patients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top 10 features correlated to patient health status are age, </a:t>
            </a:r>
            <a:r>
              <a:rPr lang="en-US" dirty="0" err="1"/>
              <a:t>mfcc</a:t>
            </a:r>
            <a:r>
              <a:rPr lang="en-US" dirty="0"/>
              <a:t> 3, spectral bandwidth, </a:t>
            </a:r>
            <a:r>
              <a:rPr lang="en-US" dirty="0" err="1"/>
              <a:t>rolloff</a:t>
            </a:r>
            <a:r>
              <a:rPr lang="en-US" dirty="0"/>
              <a:t>, </a:t>
            </a:r>
            <a:r>
              <a:rPr lang="en-US" dirty="0" err="1"/>
              <a:t>rmse</a:t>
            </a:r>
            <a:r>
              <a:rPr lang="en-US" dirty="0"/>
              <a:t>, </a:t>
            </a:r>
            <a:r>
              <a:rPr lang="en-US" dirty="0" err="1"/>
              <a:t>chroma</a:t>
            </a:r>
            <a:r>
              <a:rPr lang="en-US" dirty="0"/>
              <a:t> </a:t>
            </a:r>
            <a:r>
              <a:rPr lang="en-US" dirty="0" err="1"/>
              <a:t>stft</a:t>
            </a:r>
            <a:r>
              <a:rPr lang="en-US" dirty="0"/>
              <a:t>, </a:t>
            </a:r>
            <a:r>
              <a:rPr lang="en-US" dirty="0" err="1"/>
              <a:t>mfcc</a:t>
            </a:r>
            <a:r>
              <a:rPr lang="en-US" dirty="0"/>
              <a:t> 8, spectral centroid and mean </a:t>
            </a:r>
            <a:r>
              <a:rPr lang="en-US" dirty="0" err="1"/>
              <a:t>mfcc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356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Data </a:t>
            </a:r>
            <a:r>
              <a:rPr lang="en-CA" dirty="0" smtClean="0"/>
              <a:t>cleaning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Cleaned missing values, </a:t>
            </a:r>
            <a:r>
              <a:rPr lang="en-US" dirty="0" smtClean="0"/>
              <a:t>renamed columns, normalized </a:t>
            </a:r>
            <a:r>
              <a:rPr lang="en-US" dirty="0"/>
              <a:t>numeric features.</a:t>
            </a:r>
          </a:p>
          <a:p>
            <a:r>
              <a:rPr lang="en-US" dirty="0"/>
              <a:t>Encoded categorical data (Gender, Label).</a:t>
            </a:r>
          </a:p>
          <a:p>
            <a:r>
              <a:rPr lang="en-US" dirty="0"/>
              <a:t>Split dataset 80/20 for training/testing.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5787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Power Bi dashboard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smtClean="0"/>
              <a:t>Interactive Power BI dashboard with:</a:t>
            </a:r>
          </a:p>
          <a:p>
            <a:r>
              <a:rPr lang="en-US" dirty="0" smtClean="0"/>
              <a:t>Dataset </a:t>
            </a:r>
            <a:r>
              <a:rPr lang="en-US" dirty="0"/>
              <a:t>Overview</a:t>
            </a:r>
          </a:p>
          <a:p>
            <a:r>
              <a:rPr lang="en-US" dirty="0"/>
              <a:t>Acoustic Feature Comparison</a:t>
            </a:r>
          </a:p>
          <a:p>
            <a:r>
              <a:rPr lang="en-US" dirty="0"/>
              <a:t>Voice Health Summary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76093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Predictive model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CA" dirty="0" smtClean="0"/>
              <a:t>Several Models were trained and evaluated. These were:</a:t>
            </a:r>
          </a:p>
          <a:p>
            <a:r>
              <a:rPr lang="en-CA" dirty="0" smtClean="0"/>
              <a:t>Logistic Regression</a:t>
            </a:r>
          </a:p>
          <a:p>
            <a:r>
              <a:rPr lang="en-CA" dirty="0" smtClean="0"/>
              <a:t>Decision Tree</a:t>
            </a:r>
          </a:p>
          <a:p>
            <a:r>
              <a:rPr lang="en-CA" dirty="0" smtClean="0"/>
              <a:t>Gradient Boost</a:t>
            </a:r>
          </a:p>
          <a:p>
            <a:r>
              <a:rPr lang="en-CA" dirty="0" smtClean="0"/>
              <a:t>Random Forest</a:t>
            </a:r>
          </a:p>
          <a:p>
            <a:r>
              <a:rPr lang="en-CA" dirty="0" err="1" smtClean="0"/>
              <a:t>XGBoost</a:t>
            </a:r>
            <a:endParaRPr lang="en-CA" dirty="0" smtClean="0"/>
          </a:p>
          <a:p>
            <a:pPr marL="114300" indent="0">
              <a:buNone/>
            </a:pPr>
            <a:endParaRPr lang="en-CA" dirty="0" smtClean="0"/>
          </a:p>
          <a:p>
            <a:pPr marL="114300" indent="0">
              <a:buNone/>
            </a:pPr>
            <a:r>
              <a:rPr lang="en-CA" b="1" dirty="0" smtClean="0"/>
              <a:t>Evaluation Metrics</a:t>
            </a:r>
            <a:r>
              <a:rPr lang="en-CA" dirty="0" smtClean="0"/>
              <a:t>: Accuracy, Precision, Recall, F1-Score, AUC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3743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Model performance summary</a:t>
            </a:r>
            <a:endParaRPr lang="en-C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783651"/>
              </p:ext>
            </p:extLst>
          </p:nvPr>
        </p:nvGraphicFramePr>
        <p:xfrm>
          <a:off x="457200" y="1752600"/>
          <a:ext cx="82296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Model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Accuracy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Precision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Recall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F1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AUC</a:t>
                      </a:r>
                      <a:endParaRPr lang="en-C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CA" b="1">
                          <a:effectLst/>
                        </a:rPr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0.85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0.90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0.89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0.89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CA" b="1">
                          <a:effectLst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0.84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0.86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0.91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0.89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CA" b="1">
                          <a:effectLst/>
                        </a:rPr>
                        <a:t>Gradient 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0.84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0.90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CA" b="1">
                          <a:effectLst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0.82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0.88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0.85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0.86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0.89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r" fontAlgn="ctr"/>
                      <a:r>
                        <a:rPr lang="en-CA" b="1">
                          <a:effectLst/>
                        </a:rPr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0.77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0.82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0.83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0.83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CA" dirty="0" smtClean="0">
                          <a:effectLst/>
                        </a:rPr>
                        <a:t>0.74</a:t>
                      </a:r>
                      <a:endParaRPr lang="en-CA" dirty="0"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709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conclusion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XGBoost</a:t>
            </a:r>
            <a:r>
              <a:rPr lang="en-US" dirty="0"/>
              <a:t> Classifier performed the best out of all the other classifier models with the highest accuracy, precision, </a:t>
            </a:r>
            <a:r>
              <a:rPr lang="en-US" dirty="0" smtClean="0"/>
              <a:t>recall</a:t>
            </a:r>
            <a:r>
              <a:rPr lang="en-US" dirty="0"/>
              <a:t>, f1 score and AUC performance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high performance of the classifier models indicate that vocal derived parameters can effectively classify/predict  patient health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Future Work:</a:t>
            </a:r>
          </a:p>
          <a:p>
            <a:r>
              <a:rPr lang="en-US" dirty="0" smtClean="0"/>
              <a:t>Incorporating </a:t>
            </a:r>
            <a:r>
              <a:rPr lang="en-US" dirty="0" err="1" smtClean="0"/>
              <a:t>hyperparameter</a:t>
            </a:r>
            <a:r>
              <a:rPr lang="en-US" dirty="0" smtClean="0"/>
              <a:t> tuning</a:t>
            </a:r>
            <a:endParaRPr lang="en-US" dirty="0"/>
          </a:p>
          <a:p>
            <a:r>
              <a:rPr lang="en-US" smtClean="0"/>
              <a:t>Exploring </a:t>
            </a:r>
            <a:r>
              <a:rPr lang="en-US" dirty="0"/>
              <a:t>deep learning </a:t>
            </a:r>
            <a:r>
              <a:rPr lang="en-US" dirty="0" smtClean="0"/>
              <a:t>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49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394</TotalTime>
  <Words>459</Words>
  <Application>Microsoft Office PowerPoint</Application>
  <PresentationFormat>On-screen Show (4:3)</PresentationFormat>
  <Paragraphs>88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Apothecary</vt:lpstr>
      <vt:lpstr>Voice Based Health Classification</vt:lpstr>
      <vt:lpstr>introduction</vt:lpstr>
      <vt:lpstr>Dataset</vt:lpstr>
      <vt:lpstr>EDA Findings</vt:lpstr>
      <vt:lpstr>Data cleaning</vt:lpstr>
      <vt:lpstr>Power Bi dashboard</vt:lpstr>
      <vt:lpstr>Predictive model</vt:lpstr>
      <vt:lpstr>Model performance summary</vt:lpstr>
      <vt:lpstr>conclusion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EDA</dc:title>
  <dc:creator>Yasmin Lawrence</dc:creator>
  <cp:lastModifiedBy>Yasmin Lawrence</cp:lastModifiedBy>
  <cp:revision>28</cp:revision>
  <dcterms:created xsi:type="dcterms:W3CDTF">2006-08-16T00:00:00Z</dcterms:created>
  <dcterms:modified xsi:type="dcterms:W3CDTF">2026-01-13T21:28:43Z</dcterms:modified>
</cp:coreProperties>
</file>